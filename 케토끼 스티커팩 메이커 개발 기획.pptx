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3" r:id="rId34"/>
    <p:sldId id="277" r:id="rId28"/>
    <p:sldId id="281" r:id="rId32"/>
    <p:sldId id="282" r:id="rId33"/>
    <p:sldId id="278" r:id="rId29"/>
    <p:sldId id="279" r:id="rId30"/>
    <p:sldId id="280" r:id="rId31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11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19.xml"/><Relationship Id="rId15" Type="http://schemas.openxmlformats.org/officeDocument/2006/relationships/slide" Target="slides/slide20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slide" Target="slides/slide23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6.xml"/><Relationship Id="rId22" Type="http://schemas.openxmlformats.org/officeDocument/2006/relationships/slide" Target="slides/slide27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5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91440"/>
            <a:ext cx="1463040" cy="1463040"/>
          </a:xfrm>
          <a:prstGeom prst="ellipse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498080" y="914400"/>
            <a:ext cx="1097280" cy="1097280"/>
          </a:xfrm>
          <a:prstGeom prst="ellipse">
            <a:avLst/>
          </a:prstGeom>
          <a:solidFill>
            <a:srgbClr val="D97706">
              <a:alpha val="30000"/>
            </a:srgbClr>
          </a:solidFill>
          <a:ln w="1905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309360" y="1645920"/>
            <a:ext cx="914400" cy="914400"/>
          </a:xfrm>
          <a:prstGeom prst="ellipse">
            <a:avLst/>
          </a:prstGeom>
          <a:solidFill>
            <a:srgbClr val="059669">
              <a:alpha val="28000"/>
            </a:srgbClr>
          </a:solidFill>
          <a:ln w="19050">
            <a:solidFill>
              <a:srgbClr val="059669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0" y="2194560"/>
            <a:ext cx="1280160" cy="1280160"/>
          </a:xfrm>
          <a:prstGeom prst="ellipse">
            <a:avLst/>
          </a:prstGeom>
          <a:solidFill>
            <a:srgbClr val="2563EB">
              <a:alpha val="22000"/>
            </a:srgbClr>
          </a:solidFill>
          <a:ln w="1905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0" y="2743200"/>
            <a:ext cx="822960" cy="822960"/>
          </a:xfrm>
          <a:prstGeom prst="ellipse">
            <a:avLst/>
          </a:prstGeom>
          <a:solidFill>
            <a:srgbClr val="7C3AED">
              <a:alpha val="40000"/>
            </a:srgbClr>
          </a:solidFill>
          <a:ln w="1905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955280" y="3383280"/>
            <a:ext cx="1005840" cy="1005840"/>
          </a:xfrm>
          <a:prstGeom prst="ellipse">
            <a:avLst/>
          </a:prstGeom>
          <a:solidFill>
            <a:srgbClr val="D97706">
              <a:alpha val="25000"/>
            </a:srgbClr>
          </a:solidFill>
          <a:ln w="1905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638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😊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04672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713232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케토끼 스티커팩 메이커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48640" y="1664208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이모티콘 제작 보조 서비스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5394960" cy="1024128"/>
          </a:xfrm>
          <a:prstGeom prst="rect">
            <a:avLst/>
          </a:prstGeom>
          <a:solidFill>
            <a:srgbClr val="7C3AED">
              <a:alpha val="12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212848"/>
            <a:ext cx="5074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만든 캐릭터 이미지 세트 또는 그리드 이미지를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이모티콘 플랫폼 제출용 파일로 자동 변환하고,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 위험까지 사전에 검사해주는 창작자용 서비스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298448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35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29184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카카오톡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38528" y="3291840"/>
            <a:ext cx="1298448" cy="365760"/>
          </a:xfrm>
          <a:prstGeom prst="roundRect">
            <a:avLst>
              <a:gd name="adj" fmla="val 15000"/>
            </a:avLst>
          </a:prstGeom>
          <a:solidFill>
            <a:srgbClr val="059669">
              <a:alpha val="35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938528" y="329184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28416" y="3291840"/>
            <a:ext cx="1298448" cy="365760"/>
          </a:xfrm>
          <a:prstGeom prst="roundRect">
            <a:avLst>
              <a:gd name="adj" fmla="val 15000"/>
            </a:avLst>
          </a:prstGeom>
          <a:solidFill>
            <a:srgbClr val="2563EB">
              <a:alpha val="35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28416" y="329184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BAND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18304" y="3291840"/>
            <a:ext cx="1298448" cy="365760"/>
          </a:xfrm>
          <a:prstGeom prst="roundRect">
            <a:avLst>
              <a:gd name="adj" fmla="val 15000"/>
            </a:avLst>
          </a:prstGeom>
          <a:solidFill>
            <a:srgbClr val="D97706">
              <a:alpha val="35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329184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OGQ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37490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27632" y="37490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변환·검수·슬롯 설계 추가 · 플랫폼 자동 규격 적용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736592"/>
            <a:ext cx="82296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기획서 v5.0 최종  ·  2026  ·  케토끼 스티커팩 메이커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804672"/>
            <a:ext cx="41605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804672"/>
            <a:ext cx="658368" cy="9326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804672"/>
            <a:ext cx="658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8961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배경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이모티콘 시장 현황 &amp; 창작자 페인 포인트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804672"/>
            <a:ext cx="41605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92040" y="804672"/>
            <a:ext cx="658368" cy="9326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92040" y="804672"/>
            <a:ext cx="658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0" y="8961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타겟 사용자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1389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서비스가 필요한 3가지 유형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41605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1828800"/>
            <a:ext cx="658368" cy="9326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1828800"/>
            <a:ext cx="658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34440" y="18470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34440" y="184708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4440" y="20665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/ After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4140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vs 케토끼 자동화 방식 비교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1828800"/>
            <a:ext cx="41605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892040" y="1828800"/>
            <a:ext cx="658368" cy="9326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92040" y="1828800"/>
            <a:ext cx="658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0" y="1920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서비스 기능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24140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차별점 &amp; 8가지 기능 상세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2852928"/>
            <a:ext cx="41605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2852928"/>
            <a:ext cx="658368" cy="9326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7200" y="2852928"/>
            <a:ext cx="658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234440" y="2871216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34440" y="2871216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34440" y="30906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화면 구성 &amp; 유스케이스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3438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10단계 Flow · 변환·검수·슬롯 설계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2852928"/>
            <a:ext cx="41605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92040" y="2852928"/>
            <a:ext cx="658368" cy="9326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92040" y="2852928"/>
            <a:ext cx="658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669280" y="29443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69280" y="3438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Python FastAPI 구성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877056"/>
            <a:ext cx="41605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57200" y="3877056"/>
            <a:ext cx="658368" cy="9326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3877056"/>
            <a:ext cx="658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234440" y="39684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설계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34440" y="44622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테이블 완전 설계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92040" y="3877056"/>
            <a:ext cx="41605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892040" y="3877056"/>
            <a:ext cx="658368" cy="9326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892040" y="3877056"/>
            <a:ext cx="658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669280" y="39684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일정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669280" y="44622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MVP 로드맵 + 간트차트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개발 배경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이모티콘 크리에이터 시장은 빠르게 성장하지만, 플랫폼마다 규격이 달라 반복 수작업과 규격 오류로 창작자들이 큰 어려움을 겪고 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29844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4개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플랫폼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LINE · BAND · OGQ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188720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10128" y="1188720"/>
            <a:ext cx="2651760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10128" y="129844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310128" y="206654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플랫폼당 규격 항목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3957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크기·용량·형식·투명도 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188720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63056" y="1188720"/>
            <a:ext cx="2651760" cy="8229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63056" y="129844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반려 원인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63056" y="206654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미준수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63056" y="23957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크기·용량·형식·투명 배경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창작자들이 자주 겪는 반려 원인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01568"/>
            <a:ext cx="1572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401568"/>
            <a:ext cx="1572768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3511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0352" y="3913632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크기 오류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4261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플랫폼마다 사이즈 상이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94560" y="3401568"/>
            <a:ext cx="1572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194560" y="3401568"/>
            <a:ext cx="1572768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194560" y="3511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267712" y="3913632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 초과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67712" y="4261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개당 1MB 이하 미준수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31920" y="3401568"/>
            <a:ext cx="1572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931920" y="3401568"/>
            <a:ext cx="1572768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931920" y="3511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🔲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005072" y="3913632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 배경 누락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005072" y="4261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배경 PNG 제출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0" y="3401568"/>
            <a:ext cx="1572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669280" y="3401568"/>
            <a:ext cx="1572768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669280" y="3511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742432" y="3913632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개수 오류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42432" y="4261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규정 수량 불일치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06640" y="3401568"/>
            <a:ext cx="1572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406640" y="3401568"/>
            <a:ext cx="1572768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406640" y="3511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479792" y="3913632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가시성 부족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79792" y="4261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밝은 캐릭터가 배경에 묻힘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타겟 사용자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77240"/>
            <a:ext cx="2724912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777240"/>
            <a:ext cx="2724912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62456" y="1024128"/>
            <a:ext cx="914400" cy="914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62456" y="10241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인디 이모티콘 창작자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페인 포인트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카카오·LINE·OGQ에 동시 제출하려니 규격 맞추는 데만 몇 시간이 걸린다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기능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895344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플랫폼별 자동 변환 + ZIP 다운로드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777240"/>
            <a:ext cx="2724912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355848" y="777240"/>
            <a:ext cx="2724912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61104" y="1024128"/>
            <a:ext cx="914400" cy="914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61104" y="10241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93008" y="202996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이모티콘 입문자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38728" y="2578608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페인 포인트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38728" y="2834640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처음이라 어떤 규격으로 만들어야 하는지 막막하다. 반려될까 봐 불안하다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38728" y="3639312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기능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38728" y="3895344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전 검수기 + 오류 자동 안내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4496" y="777240"/>
            <a:ext cx="2724912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254496" y="777240"/>
            <a:ext cx="2724912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59752" y="1024128"/>
            <a:ext cx="914400" cy="914400"/>
          </a:xfrm>
          <a:prstGeom prst="ellipse">
            <a:avLst/>
          </a:prstGeom>
          <a:solidFill>
            <a:srgbClr val="059669">
              <a:alpha val="18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59752" y="10241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391656" y="202996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소규모 캐릭터 스튜디오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37376" y="2578608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페인 포인트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37376" y="2834640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캐릭터 시리즈를 여러 플랫폼에 배포할 때 일관된 파이프라인이 없다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37376" y="3639312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기능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37376" y="3895344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처리 + 그리드 슬라이서 + 프로젝트 관리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추가 사용 시나리오 — AI 이모티콘 시트 자동 분리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786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사용 흐름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060704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기본은 개별 이미지 업로드입니다. 아래 흐름은 AI가 만든 한 장짜리 시트를 개별 이미지로 분리하는 추가 기능 사용 예시입니다.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99339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572768"/>
            <a:ext cx="1993392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61872" y="166420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61872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AI에 요청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5292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Midjourney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 AI 툴 사용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50592" y="2450592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24328" y="1572768"/>
            <a:ext cx="199339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624328" y="1572768"/>
            <a:ext cx="1993392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429000" y="166420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2900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24328" y="212140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624328" y="25420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시트 1장 완성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15768" y="285292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6×4 그리드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24종 이모티콘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450592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91456" y="1572768"/>
            <a:ext cx="199339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91456" y="1572768"/>
            <a:ext cx="1993392" cy="822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596128" y="166420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596128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91456" y="212140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✂️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791456" y="25420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자동 분리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82896" y="285292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케토끼 스티커팩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메이커에 업로드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84848" y="2450592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958584" y="1572768"/>
            <a:ext cx="199339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958584" y="1572768"/>
            <a:ext cx="1993392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763256" y="166420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63256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58584" y="212140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958584" y="25420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 다운로드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50024" y="285292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/ LINE / 카카오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제출용 파일 완성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4133088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57200" y="3657600"/>
            <a:ext cx="59436" cy="14447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" y="36941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요청 예시 (Gemini / GPT-4o)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" y="4023360"/>
            <a:ext cx="3840480" cy="987552"/>
          </a:xfrm>
          <a:prstGeom prst="rect">
            <a:avLst/>
          </a:prstGeom>
          <a:solidFill>
            <a:srgbClr val="1E1E2E"/>
          </a:solidFill>
          <a:ln w="6350">
            <a:solidFill>
              <a:srgbClr val="3D3D6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85800" y="405993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토끼 이모티콘 24종, 6×4 그리드,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배경, 4096×3072px, PNG 형식으로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캐릭터가 뚜렷하게 보이도록 생성해줘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73168" y="3657600"/>
            <a:ext cx="3913632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773168" y="3657600"/>
            <a:ext cx="59436" cy="14447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919472" y="3694176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케토끼 스티커팩 메이커 처리 흐름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19472" y="410565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102352" y="40416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 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79008" y="40416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4096×3072 PNG 시트 1장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19472" y="4361688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102352" y="429768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 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779008" y="42976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 6칸 × 세로 4칸 입력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919472" y="4617720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102352" y="45537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분리  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779008" y="45537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682×768px × 24개 생성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919472" y="4873752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102352" y="48097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 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79008" y="48097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740×640 으로 축소 (화질 유지)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홈화면 구성 — 사용 방법 소개 &amp; 제작자 소개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홈화면은 히어로 배너 · 사용 방법 · 알아두면 좋은 팁 · 제작자 소개 4개 섹션으로 구성됩니다.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3977640" cy="1536192"/>
          </a:xfrm>
          <a:prstGeom prst="rect">
            <a:avLst/>
          </a:prstGeom>
          <a:solidFill>
            <a:srgbClr val="F5F3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24128"/>
            <a:ext cx="3977640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24128"/>
            <a:ext cx="397764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히어로 배너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케토끼 스티커팩 메이커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1773936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만든 캐릭터 이미지를 OGQ · LINE · BAND · 카카오톡 제출용 파일로 자동 변환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89888" y="2103120"/>
            <a:ext cx="2084832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89888" y="210312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스티커팩 만들기 시작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24128"/>
            <a:ext cx="411480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0" y="1024128"/>
            <a:ext cx="4114800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0" y="1024128"/>
            <a:ext cx="4114800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81728" y="1024128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사용 방법 (5단계 스텝)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146304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64608" y="1426464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개별 이미지 업로드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682496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63440" y="16824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64608" y="1645920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⚙️ 자동 변환 &amp; 검수</a:t>
            </a:r>
          </a:p>
        </p:txBody>
      </p:sp>
      <p:sp>
        <p:nvSpPr>
          <p:cNvPr id="24" name="Shape 22"/>
          <p:cNvSpPr/>
          <p:nvPr/>
        </p:nvSpPr>
        <p:spPr>
          <a:xfrm>
            <a:off x="4663440" y="1901952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63440" y="190195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64608" y="1865376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자동 변환 &amp; 검수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12140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63440" y="212140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2084832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🧩 AI 시트 분리(선택)</a:t>
            </a:r>
          </a:p>
        </p:txBody>
      </p:sp>
      <p:sp>
        <p:nvSpPr>
          <p:cNvPr id="30" name="Shape 28"/>
          <p:cNvSpPr/>
          <p:nvPr/>
        </p:nvSpPr>
        <p:spPr>
          <a:xfrm>
            <a:off x="4663440" y="23408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63440" y="2340864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64608" y="2304288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AI 시트 분리(선택)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670048"/>
            <a:ext cx="82296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57200" y="2670048"/>
            <a:ext cx="8229600" cy="822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7200" y="2670048"/>
            <a:ext cx="822960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66928" y="2670048"/>
            <a:ext cx="7991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알아두면 좋은 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3054096"/>
            <a:ext cx="1920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" y="30906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고해상도로 만들기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3346704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 4096px 이상 요청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96896" y="3054096"/>
            <a:ext cx="192024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70048" y="30906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배경도 괜찮아요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70048" y="3346704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 투명 배경 변환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26864" y="3054096"/>
            <a:ext cx="1920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700016" y="30906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업로드가 기본이에요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00016" y="3346704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24장/32장을 한 장씩 업로드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56832" y="3054096"/>
            <a:ext cx="192024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729984" y="30906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플랫폼 동시 변환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29984" y="3346704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모두 변환 가능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968496"/>
            <a:ext cx="82296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57200" y="3968496"/>
            <a:ext cx="8229600" cy="82296"/>
          </a:xfrm>
          <a:prstGeom prst="rect">
            <a:avLst/>
          </a:prstGeom>
          <a:solidFill>
            <a:srgbClr val="E1306C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57200" y="3968496"/>
            <a:ext cx="8229600" cy="329184"/>
          </a:xfrm>
          <a:prstGeom prst="rect">
            <a:avLst/>
          </a:prstGeom>
          <a:solidFill>
            <a:srgbClr val="E1306C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66928" y="3968496"/>
            <a:ext cx="7991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제작자 소개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66928" y="4370832"/>
            <a:ext cx="658368" cy="658368"/>
          </a:xfrm>
          <a:prstGeom prst="ellipse">
            <a:avLst/>
          </a:prstGeom>
          <a:solidFill>
            <a:srgbClr val="FEE2E2"/>
          </a:solidFill>
          <a:ln w="15240">
            <a:solidFill>
              <a:srgbClr val="E1306C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66928" y="4370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🐰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316736" y="43708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영우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316736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케토끼 스티커팩 메이커 개발자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493008" y="4370832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이모티콘 창작자들이 규격 걱정 없이 창작에만 집중할 수 있도록 이 서비스를 만들었습니다.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150608" y="4407408"/>
            <a:ext cx="142646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240">
            <a:solidFill>
              <a:srgbClr val="E1306C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150608" y="44074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인스타그램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50608" y="4754880"/>
            <a:ext cx="142646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150608" y="475488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블로그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홈화면 — 제작자 소개 섹션 상세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E1306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홈화면 하단에 배치되는 제작자 소개 카드입니다. 인스타그램과 블로그 링크를 클릭하면 바로 이동합니다.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024128"/>
            <a:ext cx="7315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024128"/>
            <a:ext cx="7315200" cy="347472"/>
          </a:xfrm>
          <a:prstGeom prst="rect">
            <a:avLst/>
          </a:prstGeom>
          <a:solidFill>
            <a:srgbClr val="E1306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24128" y="1024128"/>
            <a:ext cx="7095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제작자 소개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70432" y="1517904"/>
            <a:ext cx="1024128" cy="1024128"/>
          </a:xfrm>
          <a:prstGeom prst="ellipse">
            <a:avLst/>
          </a:prstGeom>
          <a:solidFill>
            <a:srgbClr val="FEE2E2"/>
          </a:solidFill>
          <a:ln w="19050">
            <a:solidFill>
              <a:srgbClr val="E1306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70432" y="1517904"/>
            <a:ext cx="1024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🐰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359152" y="1536192"/>
            <a:ext cx="5687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영우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59152" y="1938528"/>
            <a:ext cx="5687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케토끼 스티커팩 메이커 개발자 · 이모티콘 크리에이터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24128" y="2286000"/>
            <a:ext cx="7095744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24128" y="2395728"/>
            <a:ext cx="7095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안녕하세요! AI로 이모티콘을 만들고 직접 플랫폼에 제출하면서 겪은 불편함을 해결하고 싶어서 케토끼 스티커팩 메이커를 만들었습니다.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이모티콘 창작자들이 규격 걱정 없이 창작에만 집중할 수 있었으면 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24128" y="3310128"/>
            <a:ext cx="3364992" cy="749808"/>
          </a:xfrm>
          <a:prstGeom prst="roundRect">
            <a:avLst>
              <a:gd name="adj" fmla="val 9756"/>
            </a:avLst>
          </a:prstGeom>
          <a:solidFill>
            <a:srgbClr val="FFF0F5"/>
          </a:solidFill>
          <a:ln w="15240">
            <a:solidFill>
              <a:srgbClr val="E1306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36499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91056" y="3364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인스타그램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91056" y="3621024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instagram.com/90bodol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78224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1306C"/>
                </a:solidFill>
              </a:rPr>
              <a:t>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310128"/>
            <a:ext cx="3364992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63440" y="336499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38928" y="33649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블로그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36210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blog.naver.com/qhwn0130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26096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151376"/>
            <a:ext cx="7315200" cy="182880"/>
          </a:xfrm>
          <a:prstGeom prst="rect">
            <a:avLst/>
          </a:prstGeom>
          <a:solidFill>
            <a:srgbClr val="E1306C">
              <a:alpha val="8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41513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링크:  instagram.com/90bodol  ·  blog.naver.com/qhwn0130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256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구현 방법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7552" y="4828032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70432" y="477316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04288" y="4773168"/>
            <a:ext cx="5815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`&lt;a href&gt;` 태그로 클릭 시 새 탭으로 이동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87552" y="5084064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70432" y="50292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04288" y="5029200"/>
            <a:ext cx="5815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API 불필요 — 프론트에서 직접 처리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87552" y="534009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170432" y="5285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설정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304288" y="5285232"/>
            <a:ext cx="5815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 저장해서 코드 수정 없이 링크 변경 가능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AI 이모티콘 시트 제작 가이드 — 고해상도 &amp; 배경 처리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 요청할 때 해상도와 배경 설정이 최종 품질을 결정합니다.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397764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60704"/>
            <a:ext cx="3977640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60704"/>
            <a:ext cx="3977640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0607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낮은 해상도로 만들면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517904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" y="1517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이미지: 2334×1824px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3749040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1920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칸 크기: 389×304px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322576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2322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740×640 변환 시: 약 2배 확대 필요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724912"/>
            <a:ext cx="3749040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27249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이미지가 흐릿해짐 (화질 손실)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1060704"/>
            <a:ext cx="397764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81728" y="1060704"/>
            <a:ext cx="3977640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681728" y="1060704"/>
            <a:ext cx="3977640" cy="38404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91456" y="10607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고해상도로 만들면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517904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82896" y="1517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이미지: 4096×3072px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91456" y="1920240"/>
            <a:ext cx="3749040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82896" y="1920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칸 크기: 682×768px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91456" y="2322576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82896" y="2322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740×640 변환 시: 거의 같은 크기 (축소)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91456" y="2724912"/>
            <a:ext cx="3749040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82896" y="27249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화질 그대로 유지 ✅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456432"/>
            <a:ext cx="8229600" cy="420624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21792" y="34838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 원칙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" y="3694176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크게 만들고 줄이기 ✅  화질 유지     /     작게 만들고 키우기 ❌  화질 깨짐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00507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배경 처리 방법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27249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7200" y="4389120"/>
            <a:ext cx="59436" cy="731520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94360" y="440740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A — AI에 투명 배경 요청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46634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"투명 배경, PNG" 추가 요청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(Gemini가 지원 안 하는 경우 많음)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42032" y="4407408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607D8B">
              <a:alpha val="20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542032" y="4407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 가능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355848" y="4389120"/>
            <a:ext cx="27249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355848" y="4389120"/>
            <a:ext cx="59436" cy="7315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93008" y="440740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B — 케토끼 자동 제거 (권장)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93008" y="46634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배경 PNG 업로드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rembg가 자동으로 배경 제거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40680" y="4407408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059669">
              <a:alpha val="20000"/>
            </a:srgbClr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440680" y="4407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254496" y="4389120"/>
            <a:ext cx="27249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254496" y="4389120"/>
            <a:ext cx="59436" cy="7315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391656" y="440740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C — remove.bg 이용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91656" y="46634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remove.bg 사이트에서 수동 제거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투명 PNG 다운로드 후 업로드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39328" y="4407408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20000"/>
            </a:srgbClr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339328" y="4407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그리드 자동 슬라이서 — 추가 기능: 한 장 이미지를 24개로 자동 분리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업로드는 개별 이미지 업로드이며, 이 화면은 AI 시트 1장을 올린 경우에만 실행되는 보조 기능입니다.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3200400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24128"/>
            <a:ext cx="3200400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24128"/>
            <a:ext cx="32004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024128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추가 기능 업로드: 한 장짜리 이모티콘 시트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481328"/>
            <a:ext cx="457200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481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181051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60704" y="1481328"/>
            <a:ext cx="45720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60704" y="1481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0704" y="181051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554480" y="1481328"/>
            <a:ext cx="457200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554480" y="1481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181051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048256" y="1481328"/>
            <a:ext cx="457200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48256" y="1481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48256" y="181051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542032" y="1481328"/>
            <a:ext cx="45720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542032" y="1481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42032" y="181051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035808" y="1481328"/>
            <a:ext cx="457200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035808" y="1481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35808" y="181051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66928" y="2029968"/>
            <a:ext cx="457200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6928" y="2029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23591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060704" y="2029968"/>
            <a:ext cx="45720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60704" y="2029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0704" y="23591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554480" y="2029968"/>
            <a:ext cx="457200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554480" y="2029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23591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048256" y="2029968"/>
            <a:ext cx="457200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048256" y="2029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048256" y="23591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542032" y="2029968"/>
            <a:ext cx="45720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542032" y="2029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542032" y="23591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035808" y="2029968"/>
            <a:ext cx="457200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035808" y="2029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035808" y="23591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66928" y="2578608"/>
            <a:ext cx="457200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66928" y="25786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66928" y="29077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060704" y="2578608"/>
            <a:ext cx="45720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060704" y="25786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60704" y="29077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554480" y="2578608"/>
            <a:ext cx="457200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554480" y="25786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554480" y="29077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048256" y="2578608"/>
            <a:ext cx="457200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2048256" y="25786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2048256" y="29077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542032" y="2578608"/>
            <a:ext cx="45720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2542032" y="25786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2542032" y="29077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035808" y="2578608"/>
            <a:ext cx="457200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035808" y="25786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3035808" y="29077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566928" y="3127248"/>
            <a:ext cx="457200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66928" y="3127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66928" y="345643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1060704" y="3127248"/>
            <a:ext cx="45720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060704" y="3127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060704" y="345643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1554480" y="3127248"/>
            <a:ext cx="457200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1554480" y="3127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1554480" y="345643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2048256" y="3127248"/>
            <a:ext cx="457200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2048256" y="3127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2048256" y="345643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2542032" y="3127248"/>
            <a:ext cx="45720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2542032" y="3127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2542032" y="345643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035808" y="3127248"/>
            <a:ext cx="457200" cy="49377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3035808" y="3127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🐰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3035808" y="345643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457200" y="3913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6열 × 4행 = 24개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457200" y="416966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× 3072 px · PNG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730752" y="2194560"/>
            <a:ext cx="1024128" cy="566928"/>
          </a:xfrm>
          <a:prstGeom prst="rect">
            <a:avLst>
              <a:gd name="adj" fmla="val 9677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3730752" y="2194560"/>
            <a:ext cx="1024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자동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3657600" y="24231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4736592" y="24231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4864608" y="1024128"/>
            <a:ext cx="3822192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4864608" y="1024128"/>
            <a:ext cx="3822192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4864608" y="1024128"/>
            <a:ext cx="3822192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4974336" y="1024128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결과: 개별 PNG 24개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4974336" y="1499616"/>
            <a:ext cx="360273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5029200" y="1499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🐰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321808" y="1499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01.png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6291072" y="14996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682×768px ✅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974336" y="1792224"/>
            <a:ext cx="3602736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5029200" y="1792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🐰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5321808" y="17922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02.png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291072" y="17922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682×768px ✅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974336" y="2084832"/>
            <a:ext cx="360273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029200" y="2084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🐰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5321808" y="2084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03.png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6291072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682×768px ✅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974336" y="2377440"/>
            <a:ext cx="3602736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502920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🐰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5321808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04.png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6291072" y="2377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682×768px ✅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974336" y="2670048"/>
            <a:ext cx="360273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5029200" y="2670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🐰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5321808" y="26700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05.png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6291072" y="26700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682×768px ✅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974336" y="2962656"/>
            <a:ext cx="3602736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3" name="Text 111"/>
          <p:cNvSpPr/>
          <p:nvPr/>
        </p:nvSpPr>
        <p:spPr>
          <a:xfrm>
            <a:off x="5029200" y="29626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🐰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5321808" y="29626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06.png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6291072" y="29626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682×768px ✅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4974336" y="3255264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⋮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4974336" y="3547872"/>
            <a:ext cx="3602736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5029200" y="3547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🐰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321808" y="35478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24.png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6291072" y="35478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682×768px ✅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4864608" y="391363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칸 682×768px — OGQ 740×640보다 크므로 화질 유지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457200" y="4480560"/>
            <a:ext cx="8229600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621792" y="45171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 후 사용자 확인 단계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2724912" y="4517136"/>
            <a:ext cx="5833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썸네일 확인  ·  순서 드래그 조정  ·  잘못 잘린 컷 재조정  ·  불필요한 컷 삭제  ·  확인 후 다음 단계로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시트에서 분리된 24개 이미지 → 플랫폼 자동 변환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그리드 슬라이서로 분리된 이미지는 일반 개별 업로드 이미지와 동일하게 플랫폼 규격 변환 단계로 넘어갑니다.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10128" y="1024128"/>
            <a:ext cx="2523744" cy="1325880"/>
          </a:xfrm>
          <a:prstGeom prst="rect">
            <a:avLst/>
          </a:prstGeom>
          <a:solidFill>
            <a:srgbClr val="F5F3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310128" y="1024128"/>
            <a:ext cx="2523744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10128" y="106070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분리된 이미지 24개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138988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01568" y="138988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85616" y="138988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85616" y="138988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9664" y="138988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69664" y="138988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3712" y="138988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53712" y="138988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38988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37760" y="138988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21808" y="138988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21808" y="138988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01568" y="166420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01568" y="16642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85616" y="166420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85616" y="16642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9664" y="166420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69664" y="16642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53712" y="166420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53712" y="16642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166420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37760" y="16642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21808" y="166420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321808" y="16642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01568" y="193852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401568" y="193852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85616" y="193852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785616" y="193852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69664" y="193852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169664" y="193852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53712" y="193852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553712" y="193852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37760" y="193852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937760" y="193852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21808" y="1938528"/>
            <a:ext cx="347472" cy="237744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21808" y="193852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10128" y="223113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× 768 px × 24개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2359152"/>
            <a:ext cx="-2843784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572000" y="2359152"/>
            <a:ext cx="-1490472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572000" y="2359152"/>
            <a:ext cx="123444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572000" y="2359152"/>
            <a:ext cx="3035808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57200" y="2743200"/>
            <a:ext cx="2176272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57200" y="2743200"/>
            <a:ext cx="2176272" cy="40233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48640" y="27432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OGQ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3218688"/>
            <a:ext cx="199339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03504" y="3218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280160" y="3218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740×640  ×  24개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48640" y="3639312"/>
            <a:ext cx="1993392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03504" y="3639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280160" y="36393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240×240  ×  1개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48640" y="4059936"/>
            <a:ext cx="199339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03504" y="40599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tab.png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280160" y="40599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96×74  ×  1개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48640" y="4480560"/>
            <a:ext cx="1993392" cy="47548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85216" y="45171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ogq_01.png ~ ogq_24.png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85216" y="47000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26개 파일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24912" y="2743200"/>
            <a:ext cx="2176272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2724912" y="2743200"/>
            <a:ext cx="2176272" cy="40233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816352" y="27432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💚  LINE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2816352" y="3218688"/>
            <a:ext cx="199339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871216" y="3218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547872" y="3218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370×320  ×  24개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816352" y="3639312"/>
            <a:ext cx="1993392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2871216" y="3639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main.png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547872" y="36393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240×240  ×  1개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816352" y="4059936"/>
            <a:ext cx="199339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2871216" y="40599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tab.png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547872" y="40599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96×74  ×  1개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816352" y="4480560"/>
            <a:ext cx="1993392" cy="47548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2852928" y="45171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line_01.png ~ line_24.png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852928" y="47000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26개 파일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992624" y="2743200"/>
            <a:ext cx="2176272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4992624" y="2743200"/>
            <a:ext cx="2176272" cy="40233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5084064" y="27432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📢  BAND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084064" y="3218688"/>
            <a:ext cx="199339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138928" y="3218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815584" y="3218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370×320  ×  24개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084064" y="3639312"/>
            <a:ext cx="1993392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138928" y="3639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외곽선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815584" y="36393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밝은 캐릭터 자동 추가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084064" y="4059936"/>
            <a:ext cx="199339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5138928" y="40599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815584" y="40599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 PNG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084064" y="4480560"/>
            <a:ext cx="1993392" cy="475488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5120640" y="45171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band_01.png ~ band_24.png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120640" y="47000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24개 파일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803136" y="2743200"/>
            <a:ext cx="2176272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6803136" y="2743200"/>
            <a:ext cx="2176272" cy="40233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6894576" y="27432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카카오톡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6894576" y="3218688"/>
            <a:ext cx="199339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949440" y="3218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멈춤형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626096" y="3218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360×360  ×  32개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894576" y="3639312"/>
            <a:ext cx="1993392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949440" y="3639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움직임형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626096" y="36393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360×360  ×  24개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894576" y="4059936"/>
            <a:ext cx="199339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949440" y="40599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이모티콘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626096" y="40599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500×500  ×  16개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894576" y="4480560"/>
            <a:ext cx="1993392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931152" y="45171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kakao_01.png ~ ...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6931152" y="47000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유형에 따라 다름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457200" y="5193792"/>
            <a:ext cx="8229600" cy="34747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21792" y="52212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ZIP 구조: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1783080" y="5221224"/>
            <a:ext cx="6748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ketokki_stickerpack.zip / OGQ/ · LINE/ · BAND/ · KAKAO/  →  플랫폼별 폴더로 자동 정리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Before / After — 수작업 vs 케토끼 자동화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1323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13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4440" y="71323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"왜 이 서비스가 필요한가" — 기존 수작업 방식과 케토끼 자동화 방식의 차이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02336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수작업 방식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384048"/>
          </a:xfrm>
          <a:prstGeom prst="rect">
            <a:avLst/>
          </a:prstGeom>
          <a:solidFill>
            <a:srgbClr val="05966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케토끼 자동화 방식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499616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1645920"/>
            <a:ext cx="41148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" y="1499616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포토샵으로 이미지를 하나씩 리사이즈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1499616"/>
            <a:ext cx="201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499616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663440" y="1645920"/>
            <a:ext cx="41148" cy="2011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28032" y="1499616"/>
            <a:ext cx="3767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선택 후 자동 규격 변환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039112"/>
            <a:ext cx="40233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2185416"/>
            <a:ext cx="41148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" y="2039112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수동 변경 (헷갈리기 쉬움)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80560" y="2039112"/>
            <a:ext cx="201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63440" y="2039112"/>
            <a:ext cx="40233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663440" y="2185416"/>
            <a:ext cx="41148" cy="2011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28032" y="2039112"/>
            <a:ext cx="3767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ogq_01.png 형식으로 자동 정리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2578608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7200" y="2724912"/>
            <a:ext cx="41148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1792" y="2578608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 초과 여부 직접 확인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80560" y="2578608"/>
            <a:ext cx="201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663440" y="2578608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663440" y="2724912"/>
            <a:ext cx="41148" cy="2011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28032" y="2578608"/>
            <a:ext cx="3767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검사 후 오류 발견 시 자동 압축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3118104"/>
            <a:ext cx="40233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57200" y="3264408"/>
            <a:ext cx="41148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1792" y="3118104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채팅창에서 묻히는지 제출 후 알게 됨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480560" y="3118104"/>
            <a:ext cx="201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663440" y="3118104"/>
            <a:ext cx="40233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663440" y="3264408"/>
            <a:ext cx="41148" cy="2011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828032" y="3118104"/>
            <a:ext cx="3767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 미리보기로 제출 전 확인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3657600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57200" y="3803904"/>
            <a:ext cx="41148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21792" y="365760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나면 처음부터 다시 수정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480560" y="3657600"/>
            <a:ext cx="201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663440" y="3657600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663440" y="3803904"/>
            <a:ext cx="41148" cy="2011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828032" y="3657600"/>
            <a:ext cx="3767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해결 버튼으로 원클릭 수정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57200" y="4197096"/>
            <a:ext cx="40233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57200" y="4343400"/>
            <a:ext cx="41148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21792" y="4197096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ZIP 압축 후 제출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480560" y="4197096"/>
            <a:ext cx="201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663440" y="4197096"/>
            <a:ext cx="40233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663440" y="4343400"/>
            <a:ext cx="41148" cy="2011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828032" y="4197096"/>
            <a:ext cx="3767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플랫폼별 폴더 정리된 ZIP 자동 생성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40080" y="475488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도구는 파일 크기만 바꿔주지만, 케토끼는 반려 위험을 발견하고 원클릭으로 수정까지 할 수 있게 설계했습니다.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핵심 차별점 — 오류 해결 버튼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786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차별점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0607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"사용자가 오류를 직접 고치지 않아도, 검수 결과에서 바로 자동 수정할 수 있도록 설계했습니다."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61872" y="1536192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D97706">
              <a:alpha val="22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61872" y="15361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오류 감지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64992" y="1572768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895344" y="1536192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59669">
              <a:alpha val="22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95344" y="15361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자동 수정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98464" y="1572768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528816" y="1536192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7C3AED">
              <a:alpha val="22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28816" y="15361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ZIP 생성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19202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2103120"/>
            <a:ext cx="1920240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1396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OGQ 준비도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57200" y="31455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015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오류 수정 필요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2103120"/>
            <a:ext cx="61996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487168" y="2103120"/>
            <a:ext cx="59436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633472" y="210312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017520" y="215798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 24장 확인 완료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237744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정상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87168" y="2633472"/>
            <a:ext cx="61996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487168" y="2633472"/>
            <a:ext cx="59436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633472" y="263347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017520" y="268833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RGB / 72dpi 통과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29077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형식 정상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87168" y="3163824"/>
            <a:ext cx="61996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487168" y="3163824"/>
            <a:ext cx="59436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33472" y="3163824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⚠️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017520" y="3218688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3번 이미지 용량 1.2MB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17520" y="3438144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기준 1MB 이하 필요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3255264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0" y="325526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자동 압축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18120" y="32552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pngquant로 자동 압축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7168" y="3694176"/>
            <a:ext cx="61996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487168" y="3694176"/>
            <a:ext cx="59436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633472" y="369417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❌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017520" y="3749040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7번 이미지 — 흰색 캐릭터 가시성 문제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017520" y="3968496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채팅 배경에 묻힐 수 있음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0" y="378561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00800" y="378561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외곽선 추가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18120" y="37856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외곽선 2px 적용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87168" y="4224528"/>
            <a:ext cx="61996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2487168" y="4224528"/>
            <a:ext cx="59436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633472" y="422452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❌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3017520" y="4279392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12번 이미지 — 캐릭터 귀가 테두리에 닿음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017520" y="4498848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20px 이내 픽셀 감지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00800" y="4315968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00800" y="43159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여백 자동 추가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818120" y="43159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상하좌우 24px 추가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487168" y="4773168"/>
            <a:ext cx="619963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2487168" y="4773168"/>
            <a:ext cx="6199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전체 오류 자동 수정하기 → ZIP 생성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서비스 기능 전체 &amp; 처리 파이프라인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처리 파이프라인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152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개별/그리드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9344" y="1600200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00784" y="1078992"/>
            <a:ext cx="1152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700784" y="11430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00784" y="15544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컷 분리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00784" y="1847088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1600200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44368" y="1078992"/>
            <a:ext cx="1152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944368" y="11430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44368" y="15544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변환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44368" y="1847088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플랫폼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96512" y="1600200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87952" y="1078992"/>
            <a:ext cx="1152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87952" y="11430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87952" y="15544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미리보기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87952" y="1847088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0096" y="1600200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31536" y="1078992"/>
            <a:ext cx="1152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31536" y="11430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31536" y="15544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31536" y="1847088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1600200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1078992"/>
            <a:ext cx="1152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75120" y="11430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15544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자동수정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1847088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원클릭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27264" y="1600200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918704" y="1078992"/>
            <a:ext cx="1152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918704" y="11430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918704" y="155448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18704" y="1847088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25237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기능 8가지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290779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57200" y="2907792"/>
            <a:ext cx="1993392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29718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0584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그리드 자동 슬라이서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34107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N×M 그리드 → 개별 PNG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24328" y="290779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2624328" y="2907792"/>
            <a:ext cx="1993392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715768" y="29718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172968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플랫폼별 규격 변환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715768" y="34107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기반 4개 플랫폼 자동 적용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91456" y="290779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791456" y="2907792"/>
            <a:ext cx="1993392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882896" y="29718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340096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 미리보기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82896" y="34107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흰/회색/다크 배경 확인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82896" y="2916936"/>
            <a:ext cx="411480" cy="155448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882896" y="29169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958584" y="290779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6958584" y="2907792"/>
            <a:ext cx="1993392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050024" y="29718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7507224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해결 버튼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050024" y="34107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→ 원클릭 자동 수정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050024" y="2916936"/>
            <a:ext cx="411480" cy="155448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050024" y="29169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57200" y="391363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57200" y="3913632"/>
            <a:ext cx="1993392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48640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100584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전 검수 리포트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48640" y="44165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9항목 100점 점수화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624328" y="391363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2624328" y="3913632"/>
            <a:ext cx="1993392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2715768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🖊️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3172968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외곽선 자동 추가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715768" y="44165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자동 처리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15768" y="3922776"/>
            <a:ext cx="411480" cy="155448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715768" y="392277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791456" y="391363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791456" y="3913632"/>
            <a:ext cx="1993392" cy="822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882896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5340096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자동 정리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4882896" y="44165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ogq_01.png 형식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882896" y="3922776"/>
            <a:ext cx="411480" cy="155448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882896" y="392277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958584" y="391363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6958584" y="3913632"/>
            <a:ext cx="1993392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7050024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7507224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자동 패키징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050024" y="44165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플랫폼별 폴더 정리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OGQ MVP 기능 상세 — main / tab 생성 방식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규격 구조가 명확하여 MVP 1차 대상으로 선정. 이후 LINE → BAND → 카카오톡 순으로 확장합니다.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28346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78992"/>
            <a:ext cx="2834640" cy="8229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1155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OGQ 제출 규격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2615184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16276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이미지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240×240 · PNG / RGB / 72dpi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261518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4505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24장 · 740×640 · PNG / 1MB 이하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218688"/>
            <a:ext cx="2615184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2735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이미지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96×74 · PNG / RGB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1078992"/>
            <a:ext cx="525780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84448" y="1115568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84448" y="111556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111556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main.png / tab.png 자동 생성 방식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84448" y="1517904"/>
            <a:ext cx="4937760" cy="274320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57600" y="15179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main.png — 대표 이미지 자동 생성 (240×240)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1865376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840480" y="18105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업로드한 24장 중 대표 컷 1장을 직접 선택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21284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840480" y="21579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이미지를 240×240으로 자동 리사이즈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0" y="2560320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40480" y="25054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중앙 배치 + 여백 자동 추가하여 저장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84448" y="2907792"/>
            <a:ext cx="4937760" cy="27432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0" y="2907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tab.png — 탭 이미지 자동 생성 (96×74)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325526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840480" y="3200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main.png 선택 시 동일 이미지를 96×74로 자동 변환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360273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840480" y="35478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사용자가 탭용 이미지를 별도 선택 가능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395020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840480" y="38953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비율 유지 + 상하 패딩 자동 적용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29000" y="4626864"/>
            <a:ext cx="525780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593592" y="4626864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컷 선택 UI → main.png 240×240 / tab.png 96×74 자동 생성으로 OGQ 3종 파일 완성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신규 기능 — 채팅창 미리보기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1323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13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4440" y="71323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변환기에서 제출 전 품질 검수 서비스로 — 가장 강력한 차별화 기능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1993392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051560"/>
            <a:ext cx="1993392" cy="3474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12064" y="10515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배경 (카카오톡)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1810512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8368" y="1572768"/>
            <a:ext cx="868680" cy="438912"/>
          </a:xfrm>
          <a:prstGeom prst="roundRect">
            <a:avLst>
              <a:gd name="adj" fmla="val 16667"/>
            </a:avLst>
          </a:prstGeom>
          <a:solidFill>
            <a:srgbClr val="E5E5E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157276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084832"/>
            <a:ext cx="1078992" cy="1508760"/>
          </a:xfrm>
          <a:prstGeom prst="roundRect">
            <a:avLst>
              <a:gd name="adj" fmla="val 6780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2084832"/>
            <a:ext cx="107899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🐸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676656" y="374904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59669">
              <a:alpha val="2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6656" y="3749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정상 표시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24328" y="1051560"/>
            <a:ext cx="1993392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624328" y="1051560"/>
            <a:ext cx="1993392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679192" y="10515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회색 배경 (BAND)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15768" y="1463040"/>
            <a:ext cx="1810512" cy="2304288"/>
          </a:xfrm>
          <a:prstGeom prst="rect">
            <a:avLst/>
          </a:prstGeom>
          <a:solidFill>
            <a:srgbClr val="E0E0E0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825496" y="1572768"/>
            <a:ext cx="868680" cy="438912"/>
          </a:xfrm>
          <a:prstGeom prst="roundRect">
            <a:avLst>
              <a:gd name="adj" fmla="val 16667"/>
            </a:avLst>
          </a:prstGeom>
          <a:solidFill>
            <a:srgbClr val="E5E5E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825496" y="157276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안녕!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81528" y="2084832"/>
            <a:ext cx="1078992" cy="1508760"/>
          </a:xfrm>
          <a:prstGeom prst="roundRect">
            <a:avLst>
              <a:gd name="adj" fmla="val 6780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081528" y="2084832"/>
            <a:ext cx="107899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🐸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2843784" y="374904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97706">
              <a:alpha val="2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43784" y="3749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거의 보임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91456" y="1051560"/>
            <a:ext cx="1993392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791456" y="1051560"/>
            <a:ext cx="1993392" cy="3474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46320" y="10515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다크모드 (LINE)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82896" y="1463040"/>
            <a:ext cx="1810512" cy="2304288"/>
          </a:xfrm>
          <a:prstGeom prst="rect">
            <a:avLst/>
          </a:prstGeom>
          <a:solidFill>
            <a:srgbClr val="1A1A2E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992624" y="1572768"/>
            <a:ext cx="868680" cy="438912"/>
          </a:xfrm>
          <a:prstGeom prst="roundRect">
            <a:avLst>
              <a:gd name="adj" fmla="val 16667"/>
            </a:avLst>
          </a:prstGeom>
          <a:solidFill>
            <a:srgbClr val="2D2D4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992624" y="157276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안녕!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48656" y="2084832"/>
            <a:ext cx="1078992" cy="1508760"/>
          </a:xfrm>
          <a:prstGeom prst="roundRect">
            <a:avLst>
              <a:gd name="adj" fmla="val 6780"/>
            </a:avLst>
          </a:prstGeom>
          <a:solidFill>
            <a:srgbClr val="2D2D4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48656" y="2084832"/>
            <a:ext cx="107899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🐸</a:t>
            </a:r>
            <a:endParaRPr lang="en-US" sz="4200" dirty="0"/>
          </a:p>
        </p:txBody>
      </p:sp>
      <p:sp>
        <p:nvSpPr>
          <p:cNvPr id="36" name="Shape 34"/>
          <p:cNvSpPr/>
          <p:nvPr/>
        </p:nvSpPr>
        <p:spPr>
          <a:xfrm>
            <a:off x="5010912" y="374904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59669">
              <a:alpha val="20000"/>
            </a:srgbClr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10912" y="3749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정상 표시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58584" y="1051560"/>
            <a:ext cx="1993392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958584" y="1051560"/>
            <a:ext cx="1993392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013448" y="10515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배경 + 흰 캐릭터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50024" y="1463040"/>
            <a:ext cx="1810512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159752" y="1572768"/>
            <a:ext cx="868680" cy="438912"/>
          </a:xfrm>
          <a:prstGeom prst="roundRect">
            <a:avLst>
              <a:gd name="adj" fmla="val 16667"/>
            </a:avLst>
          </a:prstGeom>
          <a:solidFill>
            <a:srgbClr val="E5E5E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159752" y="157276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안녕!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15784" y="2084832"/>
            <a:ext cx="1078992" cy="1508760"/>
          </a:xfrm>
          <a:prstGeom prst="roundRect">
            <a:avLst>
              <a:gd name="adj" fmla="val 6780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415784" y="2084832"/>
            <a:ext cx="107899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🐇</a:t>
            </a:r>
            <a:endParaRPr lang="en-US" sz="4800" dirty="0"/>
          </a:p>
        </p:txBody>
      </p:sp>
      <p:sp>
        <p:nvSpPr>
          <p:cNvPr id="46" name="Shape 44"/>
          <p:cNvSpPr/>
          <p:nvPr/>
        </p:nvSpPr>
        <p:spPr>
          <a:xfrm>
            <a:off x="7178040" y="374904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178040" y="3749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캐릭터 묻힘 위험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21792" y="46817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API로 PNG를 배경 레이어 위에 실시간 합성 → Python PIL로 픽셀 밝기 분석 → 밝은 캐릭터 자동 감지 후 경고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화면 구성 — 10단계 UI Flow + 스텝 인디케이터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1481328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solidFill>
            <a:srgbClr val="2D2D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749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케토끼 스티커팩 메이커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7498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컷 선택 중 (4/10단계)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0664" y="1161288"/>
            <a:ext cx="274320" cy="27432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066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206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014984" y="1298448"/>
            <a:ext cx="548640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63624" y="1161288"/>
            <a:ext cx="274320" cy="27432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56362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3502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837944" y="1298448"/>
            <a:ext cx="548640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386584" y="1161288"/>
            <a:ext cx="274320" cy="27432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8658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798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60904" y="1298448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209544" y="1161288"/>
            <a:ext cx="274320" cy="27432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20954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8094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대표컷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483864" y="1298448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032504" y="1161288"/>
            <a:ext cx="274320" cy="274320"/>
          </a:xfrm>
          <a:prstGeom prst="ellipse">
            <a:avLst/>
          </a:prstGeom>
          <a:solidFill>
            <a:srgbClr val="3D3D6A"/>
          </a:solidFill>
          <a:ln w="19050">
            <a:solidFill>
              <a:srgbClr val="3D3D6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03250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0390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변환설정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306824" y="1298448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55464" y="1161288"/>
            <a:ext cx="274320" cy="274320"/>
          </a:xfrm>
          <a:prstGeom prst="ellipse">
            <a:avLst/>
          </a:prstGeom>
          <a:solidFill>
            <a:srgbClr val="3D3D6A"/>
          </a:solidFill>
          <a:ln w="19050">
            <a:solidFill>
              <a:srgbClr val="3D3D6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5546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2686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결과확인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129784" y="1298448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678424" y="1161288"/>
            <a:ext cx="274320" cy="274320"/>
          </a:xfrm>
          <a:prstGeom prst="ellipse">
            <a:avLst/>
          </a:prstGeom>
          <a:solidFill>
            <a:srgbClr val="3D3D6A"/>
          </a:solidFill>
          <a:ln w="19050">
            <a:solidFill>
              <a:srgbClr val="3D3D6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7842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982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952744" y="1298448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501384" y="1161288"/>
            <a:ext cx="274320" cy="274320"/>
          </a:xfrm>
          <a:prstGeom prst="ellipse">
            <a:avLst/>
          </a:prstGeom>
          <a:solidFill>
            <a:srgbClr val="3D3D6A"/>
          </a:solidFill>
          <a:ln w="19050">
            <a:solidFill>
              <a:srgbClr val="3D3D6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50138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7278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오류수정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775704" y="1298448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324344" y="1161288"/>
            <a:ext cx="274320" cy="274320"/>
          </a:xfrm>
          <a:prstGeom prst="ellipse">
            <a:avLst/>
          </a:prstGeom>
          <a:solidFill>
            <a:srgbClr val="3D3D6A"/>
          </a:solidFill>
          <a:ln w="19050">
            <a:solidFill>
              <a:srgbClr val="3D3D6A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2434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9574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598664" y="1298448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147304" y="1161288"/>
            <a:ext cx="274320" cy="274320"/>
          </a:xfrm>
          <a:prstGeom prst="ellipse">
            <a:avLst/>
          </a:prstGeom>
          <a:solidFill>
            <a:srgbClr val="3D3D6A"/>
          </a:solidFill>
          <a:ln w="19050">
            <a:solidFill>
              <a:srgbClr val="3D3D6A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147304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18704" y="1463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제출가이드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57200" y="15361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완료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090672" y="15361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→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237744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115568" y="2468880"/>
            <a:ext cx="310896" cy="31089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115568" y="2468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30352" y="287121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시작 화면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" y="318211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소개 + 바로 시작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194560" y="237744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2852928" y="246888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2852928" y="2468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267712" y="287121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생성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267712" y="318211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이름, 캐릭터명, 방식 선택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931920" y="237744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4590288" y="246888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590288" y="2468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005072" y="287121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업로드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005072" y="318211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이미지 업로드(기본) 또는 그리드 업로드(선택)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669280" y="237744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6327648" y="2468880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327648" y="2468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742432" y="287121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그리드 분리 확인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742432" y="318211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컷 순서 드래그 조정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742432" y="2395728"/>
            <a:ext cx="457200" cy="16459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5742432" y="23957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406640" y="237744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8065008" y="2468880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065008" y="2468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479792" y="287121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대표 컷 선택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479792" y="318211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tab 실시간 미리보기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479792" y="2395728"/>
            <a:ext cx="457200" cy="16459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7479792" y="23957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457200" y="365760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1115568" y="374904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1115568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30352" y="415137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변환 설정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30352" y="446227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설정 접이식 + 자동 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194560" y="365760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2852928" y="37490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2852928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2267712" y="415137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변환 결과 확인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267712" y="446227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썸네일 그리드 + 상세 보기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931920" y="365760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4590288" y="3749040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4590288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4005072" y="415137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검수 리포트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4005072" y="446227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100점 점수화 + 재검수 루프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669280" y="365760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6327648" y="3749040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327648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8+9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742432" y="415137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수정 → ZIP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5742432" y="446227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수정 후 재검수 → ZIP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406640" y="3657600"/>
            <a:ext cx="16276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8065008" y="3749040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8065008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7479792" y="415137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OGQ 제출 가이드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7479792" y="446227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 + 제출 페이지 링크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479792" y="3675888"/>
            <a:ext cx="457200" cy="16459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7479792" y="3675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457200" y="4919472"/>
            <a:ext cx="8229600" cy="237744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640080" y="491947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8번(오류 수정) 완료 후 → 7번(검수 리포트) 재실행 → 점수 갱신 후 9번(ZIP) 진행  |  3-1번은 그리드 업로드 선택 시에만 표시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변환 설계 — 기본은 자동, 필요할 때만 고급 설정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규격을 몰라도 플랫폼 선택만으로 제출용 파일을 만들 수 있게 설계했습니다.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6276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05840"/>
            <a:ext cx="1627632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0789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이미지 기본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84832" y="1417320"/>
            <a:ext cx="109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1005840"/>
            <a:ext cx="16276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194560" y="1005840"/>
            <a:ext cx="1627632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94560" y="10789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94560" y="148132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선택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1773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자동 로딩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22192" y="1417320"/>
            <a:ext cx="109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1005840"/>
            <a:ext cx="16276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931920" y="1005840"/>
            <a:ext cx="1627632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931920" y="10789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31920" y="148132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클릭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1773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처리 시작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59552" y="1417320"/>
            <a:ext cx="109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0" y="1005840"/>
            <a:ext cx="16276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669280" y="1005840"/>
            <a:ext cx="1627632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69280" y="10789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148132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1773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26개 파일 생성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96912" y="1417320"/>
            <a:ext cx="109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06640" y="1005840"/>
            <a:ext cx="16276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406640" y="1005840"/>
            <a:ext cx="1627632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406640" y="10789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06640" y="148132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검수/수정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1773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재검수 → ZIP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267712"/>
            <a:ext cx="4187952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57200" y="2267712"/>
            <a:ext cx="4187952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57200" y="2267712"/>
            <a:ext cx="4187952" cy="42062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94360" y="2267712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기본 모드  ·  플랫폼 선택만으로 자동 적용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66928" y="2798064"/>
            <a:ext cx="3977640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21792" y="27980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✅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24128" y="27980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 24장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93392" y="27980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740×640 자동 리사이즈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3182112"/>
            <a:ext cx="39776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21792" y="3182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24128" y="31821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컷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993392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tab 자동 생성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" y="3566160"/>
            <a:ext cx="3977640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21792" y="3566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4128" y="3566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993392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ogq_01.png 자동 정리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" y="3950208"/>
            <a:ext cx="39776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21792" y="395020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✅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24128" y="39502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조건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993392" y="3950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· RGB · 1MB · 투명 배경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73168" y="2267712"/>
            <a:ext cx="3913632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773168" y="2267712"/>
            <a:ext cx="3913632" cy="82296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4773168" y="2267712"/>
            <a:ext cx="3913632" cy="420624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919472" y="2267712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고급 설정  ·  필요할 때만 사용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882896" y="2798064"/>
            <a:ext cx="3703320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937760" y="27980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⚙️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340096" y="27980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 배경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0" y="279806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제거 ON/OFF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82896" y="3182112"/>
            <a:ext cx="3703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937760" y="3182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⚙️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40096" y="31821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사이즈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00800" y="318211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지정 크기 (선택 옵션)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882896" y="3566160"/>
            <a:ext cx="3703320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937760" y="3566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⚙️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340096" y="35661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 강도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400800" y="35661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 초과 시 자동/수동 선택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882896" y="3950208"/>
            <a:ext cx="3703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937760" y="395020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⚙️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340096" y="39502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외곽선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00800" y="395020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밝은 캐릭터 가시성 문제 시 적용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" y="4535424"/>
            <a:ext cx="8229600" cy="566928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21792" y="45628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설계 원칙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21792" y="48097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사이즈를 매번 직접 입력하는 방식 ❌  →  플랫폼 선택하면 규격이 자동 적용되는 방식 ✅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검수 설계 — 원본이 아니라 최종 제출 파일 기준으로 검사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후 생성된 26개 파일 (sticker 24 + main + tab) 전체를 검수하고, 오류 수정 후 재검수합니다.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2724912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804672"/>
            <a:ext cx="2724912" cy="82296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8412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원본 업로드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0700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개별 이미지 N장</a:t>
            </a:r>
          </a:p>
          <a:p>
            <a:r>
              <a:t>또는 선택 기능: 1장 그리드</a:t>
            </a:r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2505456" cy="566928"/>
          </a:xfrm>
          <a:prstGeom prst="rect">
            <a:avLst/>
          </a:prstGeom>
          <a:solidFill>
            <a:srgbClr val="607D8B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0299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원본은 보관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기준 아님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82112" y="1371600"/>
            <a:ext cx="173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55848" y="804672"/>
            <a:ext cx="2724912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55848" y="804672"/>
            <a:ext cx="2724912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65576" y="8412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자동 변환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65576" y="120700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규격 적용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740×640 리사이즈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tab 생성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65576" y="2029968"/>
            <a:ext cx="2505456" cy="566928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38728" y="20299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자동 정리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760" y="1371600"/>
            <a:ext cx="173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54496" y="804672"/>
            <a:ext cx="2724912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54496" y="804672"/>
            <a:ext cx="2724912" cy="822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64224" y="8412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최종 제출 파일 검수 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4224" y="120700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ogq_01 ~ ogq_24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main.png · tab.png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26개 파일 기준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64224" y="2029968"/>
            <a:ext cx="2505456" cy="56692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37376" y="20299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변환된 파일만 검사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279806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검수 항목 (변환된 최종 파일 기준)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418795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3200400"/>
            <a:ext cx="59436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320040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개수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47088" y="320040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24장 + main + tab = 26개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18888" y="3200400"/>
            <a:ext cx="418795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18888" y="3200400"/>
            <a:ext cx="59436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956048" y="320040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08776" y="320040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740×640 / 240×240 / 96×74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566160"/>
            <a:ext cx="418795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57200" y="3566160"/>
            <a:ext cx="59436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4360" y="3566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47088" y="356616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· RGB · 72dpi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18888" y="3566160"/>
            <a:ext cx="418795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818888" y="3566160"/>
            <a:ext cx="59436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956048" y="3566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08776" y="356616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파일당 1MB 이하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931920"/>
            <a:ext cx="418795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57200" y="3931920"/>
            <a:ext cx="59436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94360" y="39319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 배경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847088" y="393192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배경 감지 시 경고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18888" y="3931920"/>
            <a:ext cx="418795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818888" y="3931920"/>
            <a:ext cx="59436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956048" y="39319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08776" y="393192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ogq_01.png 형식 확인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7200" y="4297680"/>
            <a:ext cx="418795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57200" y="4297680"/>
            <a:ext cx="59436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94360" y="4297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가시성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847088" y="429768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밝은 캐릭터 묻힘 여부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818888" y="4297680"/>
            <a:ext cx="418795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818888" y="4297680"/>
            <a:ext cx="59436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956048" y="4297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잘림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08776" y="429768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픽셀 / 여백 부족 감지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" y="4681728"/>
            <a:ext cx="8229600" cy="420624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21792" y="47091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재검수 루프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1792" y="490118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발견 → 자동 압축 / 배경 제거 / 여백 추가 / 파일명 수정 → 다시 검수 → 점수 갱신 → ZIP 생성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플랫폼/유형별 업로드 슬롯 자동 생성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사용자는 플랫폼과 유형만 선택하면 됩니다. 필요한 컷 수와 업로드 슬롯이 자동으로 생성됩니다.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75488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05840"/>
            <a:ext cx="4754880" cy="34747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005840"/>
            <a:ext cx="1024128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/ 유형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81328" y="1005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컷 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75688" y="1005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70048" y="1005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353312"/>
            <a:ext cx="47548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1444752"/>
            <a:ext cx="4572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928" y="135331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스티커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135331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39696" y="135331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24칸 자동 생성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0" y="1353312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740×640 + main 240×240 / tab 96×74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901952"/>
            <a:ext cx="47548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1993392"/>
            <a:ext cx="4572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" y="190195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멈춤형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190195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39696" y="190195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32칸 자동 생성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1901952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정지형 제출 규격 자동 적용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450592"/>
            <a:ext cx="47548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2542032"/>
            <a:ext cx="4572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6928" y="245059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움직임형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245059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39696" y="245059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24칸 자동 생성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0" y="2450592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 규격/용량 검사 적용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999232"/>
            <a:ext cx="47548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3090672"/>
            <a:ext cx="4572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66928" y="299923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큰 이모티콘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54480" y="299923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39696" y="299923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16칸 자동 생성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0" y="2999232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이모티콘 전용 슬롯 구성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547872"/>
            <a:ext cx="47548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57200" y="3639312"/>
            <a:ext cx="45720" cy="3474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6928" y="354787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스티커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54480" y="354787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8·16·24·32·40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39696" y="354787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개수만큼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0" y="3547872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선택형 개수 규격 반영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49240" y="1005840"/>
            <a:ext cx="333756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0" y="10424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화면 동작 방식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40680" y="151790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440680" y="1517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79008" y="14996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선택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79008" y="171907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OGQ / 카카오톡 / LINE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68696" y="1773936"/>
            <a:ext cx="0" cy="18288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440680" y="206654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440680" y="2066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79008" y="204825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선택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779008" y="226771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멈춤형 / 움직임형 / 큰 이모티콘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68696" y="2322576"/>
            <a:ext cx="0" cy="18288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5440680" y="261518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440680" y="2615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79008" y="25968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DB 조회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779008" y="28163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required_count · width · height · format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68696" y="2871216"/>
            <a:ext cx="0" cy="18288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5440680" y="316382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440680" y="3163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779008" y="31455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자동 생성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779008" y="33649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멈춤형 → 32칸 표시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68696" y="3419856"/>
            <a:ext cx="0" cy="18288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5440680" y="3712464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440680" y="3712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779008" y="369417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규격 자동 적용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779008" y="391363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사이즈·형식·용량·배경 옵션 자동 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568696" y="3968496"/>
            <a:ext cx="0" cy="18288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440680" y="4261104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5440680" y="4261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779008" y="42428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후 전체 검수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779008" y="446227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변환된 최종 파일 N컷 + 대표컷 검사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7200" y="5138928"/>
            <a:ext cx="822960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40080" y="51389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사용자가 사이즈를 직접 입력하지 않아도, 플랫폼 규격이 자동 적용되고 변환된 최종 파일 전체를 기준으로 검수합니다.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화면 4 — 대표 컷 선택 (실시간 미리보기)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1323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13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4440" y="71323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클릭하는 즉시 main.png / tab.png 미리보기가 실시간으로 렌더링됩니다.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4133088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042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 24장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클릭해서 대표 컷 선택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14447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19110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252728" y="138988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52728" y="14447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2728" y="19110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911096" y="138988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11096" y="14447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11096" y="19110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9464" y="138988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69464" y="14447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69464" y="19110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27832" y="138988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227832" y="14447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27832" y="19110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86200" y="138988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886200" y="14447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86200" y="19110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4360" y="221284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4360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4360" y="273405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252728" y="221284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252728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52728" y="273405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911096" y="2212848"/>
            <a:ext cx="594360" cy="713232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911096" y="2212848"/>
            <a:ext cx="59436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911096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🐸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911096" y="273405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9464" y="221284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569464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569464" y="273405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27832" y="221284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227832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227832" y="273405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886200" y="221284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886200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886200" y="273405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94360" y="303580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94360" y="30906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94360" y="355701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252728" y="303580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252728" y="30906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252728" y="355701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911096" y="303580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911096" y="30906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911096" y="355701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569464" y="303580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569464" y="30906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2569464" y="355701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27832" y="303580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227832" y="30906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3227832" y="355701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886200" y="303580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3886200" y="30906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3886200" y="355701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94360" y="385876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94360" y="39136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594360" y="43799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252728" y="385876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252728" y="39136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252728" y="43799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911096" y="385876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1911096" y="39136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911096" y="43799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569464" y="385876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569464" y="39136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2569464" y="43799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27832" y="385876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227832" y="39136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3227832" y="43799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886200" y="3858768"/>
            <a:ext cx="594360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886200" y="39136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🐸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3886200" y="43799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681728" y="251460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반영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681728" y="317296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3AED"/>
                </a:solidFill>
              </a:rPr>
              <a:t>→</a:t>
            </a:r>
            <a:endParaRPr lang="en-US" sz="2200" dirty="0"/>
          </a:p>
        </p:txBody>
      </p:sp>
      <p:sp>
        <p:nvSpPr>
          <p:cNvPr id="86" name="Shape 84"/>
          <p:cNvSpPr/>
          <p:nvPr/>
        </p:nvSpPr>
        <p:spPr>
          <a:xfrm>
            <a:off x="5321808" y="1005840"/>
            <a:ext cx="3364992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486400" y="10424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미리보기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468112" y="1417320"/>
            <a:ext cx="822960" cy="256032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5468112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main.png  240×240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577840" y="1737360"/>
            <a:ext cx="2103120" cy="210312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5577840" y="17373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🐸</a:t>
            </a:r>
            <a:endParaRPr lang="en-US" sz="7200" dirty="0"/>
          </a:p>
        </p:txBody>
      </p:sp>
      <p:sp>
        <p:nvSpPr>
          <p:cNvPr id="92" name="Text 90"/>
          <p:cNvSpPr/>
          <p:nvPr/>
        </p:nvSpPr>
        <p:spPr>
          <a:xfrm>
            <a:off x="5577840" y="38587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09번 이미지 선택됨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790688" y="1417320"/>
            <a:ext cx="822960" cy="25603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7790688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tab.png  96×74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790688" y="1737360"/>
            <a:ext cx="822960" cy="630936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7790688" y="1737360"/>
            <a:ext cx="8229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🐸</a:t>
            </a:r>
            <a:endParaRPr lang="en-US" sz="2400" dirty="0"/>
          </a:p>
        </p:txBody>
      </p:sp>
      <p:sp>
        <p:nvSpPr>
          <p:cNvPr id="97" name="Shape 95"/>
          <p:cNvSpPr/>
          <p:nvPr/>
        </p:nvSpPr>
        <p:spPr>
          <a:xfrm>
            <a:off x="5468112" y="4151376"/>
            <a:ext cx="31089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5577840" y="4178808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컷 옵션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577840" y="443484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5760720" y="44074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main과 tab에 같은 이미지 사용 (기본)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577840" y="464515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5760720" y="4617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이미지 따로 선택하기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화면 10 — OGQ 제출 가이드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1323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13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4440" y="71323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다운로드 후 "이제 뭐 해야 하지?" 를 해결해주는 마지막 화면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749808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1078992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7008" y="1078992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72768" y="10789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OGQ 제출 준비 완료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32320" y="11430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다운로드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883664"/>
            <a:ext cx="2560320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1883664"/>
            <a:ext cx="2560320" cy="8229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 파일 정보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2304288"/>
            <a:ext cx="2286000" cy="17190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23408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ketokki_ogq_stickerpack.zip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265176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299923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main.png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3346704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tab.png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369417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ogq_01.png ~ ogq_24.png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26개 파일 · 검수 점수 98점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1883664"/>
            <a:ext cx="3200400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154680" y="1883664"/>
            <a:ext cx="3200400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9184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OGQ 제출 체크리스트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73552" y="234086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273552" y="23408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20440" y="2322576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스티커 24장 (ogq_01 ~ ogq_24.png)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73552" y="2779776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273552" y="277977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20440" y="2761488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이미지 (main.png · 240×240)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73552" y="3218688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273552" y="32186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20440" y="320040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이미지 (tab.png · 96×74)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73552" y="365760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273552" y="3657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20440" y="3639312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PNG / RGB / 72dpi 이상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73552" y="4096512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273552" y="40965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520440" y="407822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크기 1MB 이하 전체 통과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73552" y="4169664"/>
            <a:ext cx="2944368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273552" y="4169664"/>
            <a:ext cx="2944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Creators에서 제출하기  ↗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92240" y="1883664"/>
            <a:ext cx="2176272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492240" y="1883664"/>
            <a:ext cx="2176272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62940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601968" y="2340864"/>
            <a:ext cx="1993392" cy="457200"/>
          </a:xfrm>
          <a:prstGeom prst="rect">
            <a:avLst/>
          </a:prstGeom>
          <a:solidFill>
            <a:srgbClr val="7C3AED">
              <a:alpha val="10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656832" y="234086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95160" y="234086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프로젝트 만들기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01968" y="2889504"/>
            <a:ext cx="1993392" cy="457200"/>
          </a:xfrm>
          <a:prstGeom prst="rect">
            <a:avLst/>
          </a:prstGeom>
          <a:solidFill>
            <a:srgbClr val="2563EB">
              <a:alpha val="10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656832" y="288950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95160" y="288950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 수정하기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01968" y="3438144"/>
            <a:ext cx="1993392" cy="457200"/>
          </a:xfrm>
          <a:prstGeom prst="rect">
            <a:avLst/>
          </a:prstGeom>
          <a:solidFill>
            <a:srgbClr val="64748B">
              <a:alpha val="10000"/>
            </a:srgbClr>
          </a:solidFill>
          <a:ln w="6350">
            <a:solidFill>
              <a:srgbClr val="64748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656832" y="343814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95160" y="343814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리포트 다시 보기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601968" y="3986784"/>
            <a:ext cx="1993392" cy="457200"/>
          </a:xfrm>
          <a:prstGeom prst="rect">
            <a:avLst/>
          </a:prstGeom>
          <a:solidFill>
            <a:srgbClr val="16A34A">
              <a:alpha val="10000"/>
            </a:srgbClr>
          </a:solidFill>
          <a:ln w="6350">
            <a:solidFill>
              <a:srgbClr val="16A34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656832" y="398678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95160" y="398678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제출 가이드 공식문서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유스케이스 다이어그램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148840" y="777240"/>
            <a:ext cx="6263640" cy="425196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023360" y="804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케토끼 스티커팩 메이커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828800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51760" y="1188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1828800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0" y="1188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그리드 슬라이서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938528"/>
            <a:ext cx="1828800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51760" y="19385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규격 변환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1938528"/>
            <a:ext cx="1828800" cy="475488"/>
          </a:xfrm>
          <a:prstGeom prst="ellipse">
            <a:avLst/>
          </a:prstGeom>
          <a:solidFill>
            <a:srgbClr val="FFF7ED"/>
          </a:solidFill>
          <a:ln w="2286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19385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 미리보기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688336"/>
            <a:ext cx="1828800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651760" y="26883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전 검수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2688336"/>
            <a:ext cx="1828800" cy="475488"/>
          </a:xfrm>
          <a:prstGeom prst="ellipse">
            <a:avLst/>
          </a:prstGeom>
          <a:solidFill>
            <a:srgbClr val="FFF7ED"/>
          </a:solidFill>
          <a:ln w="2286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0" y="26883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외곽선 자동 추가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3438144"/>
            <a:ext cx="1828800" cy="475488"/>
          </a:xfrm>
          <a:prstGeom prst="ellipse">
            <a:avLst/>
          </a:prstGeom>
          <a:solidFill>
            <a:srgbClr val="FFF7ED"/>
          </a:solidFill>
          <a:ln w="2286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65176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/ 파일명 정리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3438144"/>
            <a:ext cx="1828800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1208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DB 관리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1261872"/>
            <a:ext cx="420624" cy="420624"/>
          </a:xfrm>
          <a:prstGeom prst="ellipse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8680" y="1682496"/>
            <a:ext cx="0" cy="50292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" y="1901952"/>
            <a:ext cx="42062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8680" y="2185416"/>
            <a:ext cx="-201168" cy="34747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8680" y="2185416"/>
            <a:ext cx="201168" cy="34747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263347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크리에이터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280160" y="1664208"/>
            <a:ext cx="13716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280160" y="2414016"/>
            <a:ext cx="13716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280160" y="3163824"/>
            <a:ext cx="13716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280160" y="3913632"/>
            <a:ext cx="13716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229600" y="1261872"/>
            <a:ext cx="420624" cy="420624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439912" y="1682496"/>
            <a:ext cx="0" cy="50292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229600" y="1901952"/>
            <a:ext cx="42062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439912" y="2185416"/>
            <a:ext cx="-201168" cy="34747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439912" y="2185416"/>
            <a:ext cx="201168" cy="34747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138160" y="26334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40880" y="3675888"/>
            <a:ext cx="11887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· 기술 스택 (Spring Boot 구성)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7863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0607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서비스 API는 Spring Boot로 구성하고, 이미지 처리처럼 무거운 작업은 Python FastAPI 이미지 처리 서버로 분리했습니다.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993392" cy="4389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5727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프론트엔드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084832"/>
            <a:ext cx="59436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2648" y="2194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" y="25786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업로드 · 채팅창 미리보기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072384"/>
            <a:ext cx="59436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" y="3566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스타일링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059936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059936"/>
            <a:ext cx="59436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2648" y="41696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" y="45537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합성 렌더링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24328" y="1572768"/>
            <a:ext cx="1993392" cy="43891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624328" y="15727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백엔드 (Spring Boot)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24328" y="208483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624328" y="2084832"/>
            <a:ext cx="59436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79776" y="2194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79776" y="25786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서비스 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24328" y="3072384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624328" y="3072384"/>
            <a:ext cx="59436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79776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79776" y="3566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연동 ORM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24328" y="4059936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624328" y="4059936"/>
            <a:ext cx="59436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79776" y="41696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+ Archiver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79776" y="45537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· ZIP 생성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91456" y="1572768"/>
            <a:ext cx="1993392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91456" y="15727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처리 서버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91456" y="208483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791456" y="2084832"/>
            <a:ext cx="59436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946904" y="2194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46904" y="25786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처리 API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91456" y="3072384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791456" y="3072384"/>
            <a:ext cx="59436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946904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46904" y="3566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리사이즈 · 외곽선 추가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91456" y="4059936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791456" y="4059936"/>
            <a:ext cx="59436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946904" y="41696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pngquant + rembg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46904" y="45537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 · 배경 제거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58584" y="1572768"/>
            <a:ext cx="1993392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958584" y="15727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인프라 &amp; DB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58584" y="2084832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958584" y="2084832"/>
            <a:ext cx="59436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114032" y="2194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14032" y="25786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DB · 6개 테이블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58584" y="3072384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958584" y="3072384"/>
            <a:ext cx="59436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114032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14032" y="3566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파일 저장소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58584" y="4059936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958584" y="4059936"/>
            <a:ext cx="59436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114032" y="41696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14032" y="45537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서버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5138928"/>
            <a:ext cx="8229600" cy="320040"/>
          </a:xfrm>
          <a:prstGeom prst="rect">
            <a:avLst/>
          </a:prstGeom>
          <a:solidFill>
            <a:srgbClr val="16A34A">
              <a:alpha val="12000"/>
            </a:srgbClr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21792" y="51389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↔ Python FastAPI: REST API 통신 (이미지 변환·검수 요청)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· DB 설계 — 6개 테이블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이미지 변환 프로그램이 아닌 프로젝트 관리형 웹서비스 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24128"/>
            <a:ext cx="2697480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0241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6928" y="13533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93392" y="13533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81912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15819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93392" y="15819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18105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6928" y="18105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93392" y="18105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039112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6928" y="20391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20391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46120" y="1024128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246120" y="1024128"/>
            <a:ext cx="2697480" cy="3108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37560" y="10241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13533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355848" y="13533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82312" y="13533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46120" y="1581912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355848" y="15819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82312" y="15819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46120" y="18105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55848" y="18105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project_name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82312" y="18105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46120" y="2039112"/>
            <a:ext cx="2697480" cy="228600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246120" y="2075688"/>
            <a:ext cx="41148" cy="1554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355848" y="20391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character_name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82312" y="20391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46120" y="22677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355848" y="22677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target_platform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82312" y="22677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246120" y="2496312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355848" y="24963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82312" y="24963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46120" y="27249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355848" y="27249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82312" y="27249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35040" y="1024128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035040" y="1024128"/>
            <a:ext cx="2697480" cy="3108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126480" y="10241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uploaded_images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35040" y="13533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144768" y="13533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13533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35040" y="1581912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144768" y="15819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571232" y="15819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035040" y="18105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144768" y="18105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original_file_name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571232" y="18105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035040" y="2039112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144768" y="20391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stored_file_path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20391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35040" y="2267712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144768" y="22677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571232" y="22677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35040" y="2496312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144768" y="249631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file_size / format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571232" y="24963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INT·VARCHAR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" y="31546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57200" y="3154680"/>
            <a:ext cx="2697480" cy="31089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48640" y="315468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converted_images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7200" y="34838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566928" y="34838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993392" y="34838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57200" y="37124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66928" y="37124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993392" y="37124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57200" y="39410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66928" y="39410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platform_name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993392" y="39410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57200" y="41696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566928" y="41696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converted_file_name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993392" y="41696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57200" y="4398264"/>
            <a:ext cx="2697480" cy="228600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457200" y="4434840"/>
            <a:ext cx="41148" cy="1554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66928" y="43982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converted_file_path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993392" y="43982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57200" y="46268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66928" y="46268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993392" y="46268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57200" y="48554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566928" y="48554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file_size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993392" y="48554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246120" y="31546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3246120" y="3154680"/>
            <a:ext cx="2697480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3337560" y="315468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validation_results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246120" y="34838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3355848" y="34838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4782312" y="34838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246120" y="37124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3355848" y="37124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4782312" y="37124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3246120" y="3941064"/>
            <a:ext cx="2697480" cy="228600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3246120" y="3977640"/>
            <a:ext cx="41148" cy="1554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3355848" y="39410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converted_image_id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4782312" y="39410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converted_images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3246120" y="41696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3355848" y="41696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check_type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4782312" y="41696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246120" y="43982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3355848" y="43982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4782312" y="43982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3246120" y="46268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3355848" y="46268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782312" y="46268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3246120" y="48554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3355848" y="48554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score_deduction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4782312" y="48554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6035040" y="31546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8" name="Shape 116"/>
          <p:cNvSpPr/>
          <p:nvPr/>
        </p:nvSpPr>
        <p:spPr>
          <a:xfrm>
            <a:off x="6035040" y="3154680"/>
            <a:ext cx="2697480" cy="31089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19" name="Text 117"/>
          <p:cNvSpPr/>
          <p:nvPr/>
        </p:nvSpPr>
        <p:spPr>
          <a:xfrm>
            <a:off x="6126480" y="315468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platform_rules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6035040" y="34838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1" name="Text 119"/>
          <p:cNvSpPr/>
          <p:nvPr/>
        </p:nvSpPr>
        <p:spPr>
          <a:xfrm>
            <a:off x="6144768" y="34838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7571232" y="34838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6035040" y="37124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6144768" y="37124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platform_name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571232" y="37124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6035040" y="39410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7" name="Text 125"/>
          <p:cNvSpPr/>
          <p:nvPr/>
        </p:nvSpPr>
        <p:spPr>
          <a:xfrm>
            <a:off x="6144768" y="39410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item_type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7571232" y="39410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6035040" y="41696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0" name="Text 128"/>
          <p:cNvSpPr/>
          <p:nvPr/>
        </p:nvSpPr>
        <p:spPr>
          <a:xfrm>
            <a:off x="6144768" y="41696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required_count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571232" y="41696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6035040" y="43982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3" name="Text 131"/>
          <p:cNvSpPr/>
          <p:nvPr/>
        </p:nvSpPr>
        <p:spPr>
          <a:xfrm>
            <a:off x="6144768" y="43982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7571232" y="43982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6035040" y="4626864"/>
            <a:ext cx="2697480" cy="228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6144768" y="46268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max_file_size_kb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7571232" y="46268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6035040" y="4855464"/>
            <a:ext cx="269748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9" name="Text 137"/>
          <p:cNvSpPr/>
          <p:nvPr/>
        </p:nvSpPr>
        <p:spPr>
          <a:xfrm>
            <a:off x="6144768" y="4855464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file_format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7571232" y="48554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457200" y="5120640"/>
            <a:ext cx="41148" cy="2011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42" name="Text 140"/>
          <p:cNvSpPr/>
          <p:nvPr/>
        </p:nvSpPr>
        <p:spPr>
          <a:xfrm>
            <a:off x="566928" y="5093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v4.0 수정: character_name (projects)  ·  converted_file_path (converted_images)  ·  converted_image_id (validation_results)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· MVP 개발 로드맵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658368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74980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전략: "OGQ 기반 MVP 완성 → 카카오톡 · LINE · BAND 순차 확장"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508760"/>
            <a:ext cx="2724912" cy="3675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" y="1508760"/>
            <a:ext cx="2724912" cy="749808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" y="1536192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1차 MVP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865376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전용 변환기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52144" y="217627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607D8B">
              <a:alpha val="2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52144" y="21762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1~4주차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450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이미지 24장 업로드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740×640 리사이즈 + main(240×240) / tab(96×74) 생성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3218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파일명 자동 정리 (ogq_01.png)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36027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PNG / RGB / 용량 검사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39867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ZIP 다운로드 + OGQ 제출 가이드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4773168"/>
            <a:ext cx="2724912" cy="320040"/>
          </a:xfrm>
          <a:prstGeom prst="rect">
            <a:avLst/>
          </a:prstGeom>
          <a:solidFill>
            <a:srgbClr val="607D8B">
              <a:alpha val="15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6928" y="477316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OGQ 제출 가능한 최소 기능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2688" y="5102352"/>
            <a:ext cx="1810512" cy="182880"/>
          </a:xfrm>
          <a:prstGeom prst="roundRect">
            <a:avLst>
              <a:gd name="adj" fmla="val 20000"/>
            </a:avLst>
          </a:prstGeom>
          <a:solidFill>
            <a:srgbClr val="607D8B">
              <a:alpha val="12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688" y="5102352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구조가 가장 명확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1508760"/>
            <a:ext cx="2724912" cy="3675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383280" y="1508760"/>
            <a:ext cx="2724912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383280" y="1536192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2차 MVP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1865376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검수 고도화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59936" y="217627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59936" y="21762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5~9주차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6160" y="2450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투명 배경 검사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용량 자동 압축 (pngquant)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66160" y="3218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외곽선 자동 추가 (Pillow)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66160" y="36027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채팅창 미리보기 (Canvas API)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66160" y="39867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오류 해결 버튼 + 재검수 루프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83280" y="4773168"/>
            <a:ext cx="2724912" cy="32004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474720" y="477316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제출 전 검수 + 자동 수정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5102352"/>
            <a:ext cx="1810512" cy="182880"/>
          </a:xfrm>
          <a:prstGeom prst="roundRect">
            <a:avLst>
              <a:gd name="adj" fmla="val 20000"/>
            </a:avLst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840480" y="5102352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핵심 기능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91072" y="1508760"/>
            <a:ext cx="2724912" cy="3675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291072" y="1508760"/>
            <a:ext cx="2724912" cy="7498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291072" y="1536192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3차 확장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91072" y="1865376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LINE · BAND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67728" y="217627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967728" y="21762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10~14주차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73952" y="2450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플랫폼 선택 UI 추가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73952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플랫폼별 규격 DB 확장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73952" y="3218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LINE 짝수 픽셀 검사 특화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73952" y="36027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BAND 가시성 시뮬레이터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73952" y="39867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관리자 규격 수정 페이지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91072" y="4773168"/>
            <a:ext cx="2724912" cy="32004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382512" y="477316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4개 플랫폼 완성 서비스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48272" y="5102352"/>
            <a:ext cx="1810512" cy="182880"/>
          </a:xfrm>
          <a:prstGeom prst="roundRect">
            <a:avLst>
              <a:gd name="adj" fmla="val 20000"/>
            </a:avLst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748272" y="5102352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여유 시 구현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182112" y="309067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089904" y="309067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· 개발 일정 (간트차트)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49640" y="1691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56032" y="1097280"/>
            <a:ext cx="8641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47472" y="1115568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환경 세팅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90672" y="1152144"/>
            <a:ext cx="361841" cy="192024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56032" y="1399032"/>
            <a:ext cx="8641080" cy="3017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7472" y="1417320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설계 &amp; 규격 데이터 입력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9025" y="1453896"/>
            <a:ext cx="570194" cy="192024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6032" y="1700784"/>
            <a:ext cx="8641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7472" y="1719072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UI (React)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24082" y="1755648"/>
            <a:ext cx="570194" cy="192024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56032" y="2002536"/>
            <a:ext cx="8641080" cy="3017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7472" y="2020824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변환 엔진 (Python FastAPI)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24082" y="2057400"/>
            <a:ext cx="778546" cy="192024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56032" y="2304288"/>
            <a:ext cx="8641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7472" y="2322576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main.png / tab.png 자동 생성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49140" y="2359152"/>
            <a:ext cx="278500" cy="192024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56032" y="2606040"/>
            <a:ext cx="8641080" cy="3017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7472" y="2624328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자동 정리 + ZIP + OGQ 가이드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74152" y="2660904"/>
            <a:ext cx="361841" cy="192024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56032" y="2907792"/>
            <a:ext cx="8641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" y="2926080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 미리보기 (Canvas)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65845" y="2962656"/>
            <a:ext cx="778546" cy="192024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56032" y="3209544"/>
            <a:ext cx="8641080" cy="3017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7472" y="3227832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외곽선 자동 추가 (Pillow)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82550" y="3264408"/>
            <a:ext cx="570194" cy="192024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56032" y="3511296"/>
            <a:ext cx="8641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7472" y="3529584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리포트 + 오류해결 버튼 + 재검수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99255" y="3566160"/>
            <a:ext cx="778546" cy="192024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56032" y="3813048"/>
            <a:ext cx="8641080" cy="3017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7472" y="3831336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규격 추가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41018" y="3867912"/>
            <a:ext cx="570194" cy="192024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56032" y="4114800"/>
            <a:ext cx="8641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7472" y="4133088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규격 추가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57723" y="4169664"/>
            <a:ext cx="570194" cy="192024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56032" y="4416552"/>
            <a:ext cx="8641080" cy="3017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47472" y="4434840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규격 추가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74429" y="4471416"/>
            <a:ext cx="570194" cy="192024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56032" y="4718304"/>
            <a:ext cx="8641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7472" y="4736592"/>
            <a:ext cx="25877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페이지 &amp; QA &amp; 배포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091134" y="4773168"/>
            <a:ext cx="778546" cy="192024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063240" y="822960"/>
            <a:ext cx="416705" cy="274320"/>
          </a:xfrm>
          <a:prstGeom prst="rect">
            <a:avLst/>
          </a:prstGeom>
          <a:solidFill>
            <a:srgbClr val="1E2A3A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063240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79945" y="822960"/>
            <a:ext cx="416705" cy="274320"/>
          </a:xfrm>
          <a:prstGeom prst="rect">
            <a:avLst/>
          </a:prstGeom>
          <a:solidFill>
            <a:srgbClr val="2A3852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479945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896650" y="822960"/>
            <a:ext cx="416705" cy="274320"/>
          </a:xfrm>
          <a:prstGeom prst="rect">
            <a:avLst/>
          </a:prstGeom>
          <a:solidFill>
            <a:srgbClr val="1E2A3A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896650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313355" y="822960"/>
            <a:ext cx="416705" cy="274320"/>
          </a:xfrm>
          <a:prstGeom prst="rect">
            <a:avLst/>
          </a:prstGeom>
          <a:solidFill>
            <a:srgbClr val="2A3852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313355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730061" y="822960"/>
            <a:ext cx="416705" cy="274320"/>
          </a:xfrm>
          <a:prstGeom prst="rect">
            <a:avLst/>
          </a:prstGeom>
          <a:solidFill>
            <a:srgbClr val="1E2A3A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730061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146766" y="822960"/>
            <a:ext cx="416705" cy="274320"/>
          </a:xfrm>
          <a:prstGeom prst="rect">
            <a:avLst/>
          </a:prstGeom>
          <a:solidFill>
            <a:srgbClr val="2A3852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146766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563471" y="822960"/>
            <a:ext cx="416705" cy="274320"/>
          </a:xfrm>
          <a:prstGeom prst="rect">
            <a:avLst/>
          </a:prstGeom>
          <a:solidFill>
            <a:srgbClr val="1E2A3A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563471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80176" y="822960"/>
            <a:ext cx="416705" cy="274320"/>
          </a:xfrm>
          <a:prstGeom prst="rect">
            <a:avLst/>
          </a:prstGeom>
          <a:solidFill>
            <a:srgbClr val="2A3852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980176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396881" y="822960"/>
            <a:ext cx="416705" cy="274320"/>
          </a:xfrm>
          <a:prstGeom prst="rect">
            <a:avLst/>
          </a:prstGeom>
          <a:solidFill>
            <a:srgbClr val="1E2A3A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396881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13586" y="822960"/>
            <a:ext cx="416705" cy="274320"/>
          </a:xfrm>
          <a:prstGeom prst="rect">
            <a:avLst/>
          </a:prstGeom>
          <a:solidFill>
            <a:srgbClr val="2A3852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813586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230291" y="822960"/>
            <a:ext cx="416705" cy="274320"/>
          </a:xfrm>
          <a:prstGeom prst="rect">
            <a:avLst/>
          </a:prstGeom>
          <a:solidFill>
            <a:srgbClr val="1E2A3A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230291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646997" y="822960"/>
            <a:ext cx="416705" cy="274320"/>
          </a:xfrm>
          <a:prstGeom prst="rect">
            <a:avLst/>
          </a:prstGeom>
          <a:solidFill>
            <a:srgbClr val="2A3852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646997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8063702" y="822960"/>
            <a:ext cx="416705" cy="274320"/>
          </a:xfrm>
          <a:prstGeom prst="rect">
            <a:avLst/>
          </a:prstGeom>
          <a:solidFill>
            <a:srgbClr val="1E2A3A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063702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13주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480407" y="822960"/>
            <a:ext cx="416705" cy="274320"/>
          </a:xfrm>
          <a:prstGeom prst="rect">
            <a:avLst/>
          </a:prstGeom>
          <a:solidFill>
            <a:srgbClr val="2A3852"/>
          </a:solidFill>
          <a:ln w="6350">
            <a:solidFill>
              <a:srgbClr val="3D5068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480407" y="822960"/>
            <a:ext cx="4167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92608" y="4846320"/>
            <a:ext cx="201168" cy="20116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66928" y="4809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기반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505456" y="4846320"/>
            <a:ext cx="201168" cy="2011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2779776" y="4809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1차 MVP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718304" y="4846320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4992624" y="4809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2차 MVP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931152" y="4846320"/>
            <a:ext cx="201168" cy="2011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7205472" y="4809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확장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1645920" cy="164592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97280" y="3840480"/>
            <a:ext cx="1097280" cy="1097280"/>
          </a:xfrm>
          <a:prstGeom prst="ellipse">
            <a:avLst/>
          </a:prstGeom>
          <a:solidFill>
            <a:srgbClr val="059669">
              <a:alpha val="2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0" y="182880"/>
            <a:ext cx="914400" cy="914400"/>
          </a:xfrm>
          <a:prstGeom prst="ellipse">
            <a:avLst/>
          </a:prstGeom>
          <a:solidFill>
            <a:srgbClr val="2563EB">
              <a:alpha val="2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0352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케토끼 스티커팩 메이커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1335024"/>
            <a:ext cx="7680960" cy="804672"/>
          </a:xfrm>
          <a:prstGeom prst="rect">
            <a:avLst/>
          </a:prstGeom>
          <a:solidFill>
            <a:srgbClr val="7C3AED">
              <a:alpha val="18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만든 캐릭터 이미지 세트 또는 그리드 이미지를 이모티콘 플랫폼 제출용 파일로 자동 변환하고,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 위험까지 사전에 검사해주는 창작자용 스티커팩 제작 보조 서비스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2029968" cy="566928"/>
          </a:xfrm>
          <a:prstGeom prst="rect">
            <a:avLst/>
          </a:prstGeom>
          <a:solidFill>
            <a:srgbClr val="2563EB">
              <a:alpha val="12000"/>
            </a:srgbClr>
          </a:solidFill>
          <a:ln w="762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6928" y="2340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그리드 슬라이서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633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N×M → 개별 컷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2304288"/>
            <a:ext cx="2029968" cy="566928"/>
          </a:xfrm>
          <a:prstGeom prst="rect">
            <a:avLst/>
          </a:prstGeom>
          <a:solidFill>
            <a:srgbClr val="7C3AED">
              <a:alpha val="12000"/>
            </a:srgbClr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0" y="2340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플랫폼별 변환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633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기반 4개 플랫폼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9744" y="2962656"/>
            <a:ext cx="2029968" cy="566928"/>
          </a:xfrm>
          <a:prstGeom prst="rect">
            <a:avLst/>
          </a:prstGeom>
          <a:solidFill>
            <a:srgbClr val="0D9488">
              <a:alpha val="12000"/>
            </a:srgbClr>
          </a:solidFill>
          <a:ln w="762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9472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 미리보기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3291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배경별 가시성 확인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86016" y="2962656"/>
            <a:ext cx="2029968" cy="566928"/>
          </a:xfrm>
          <a:prstGeom prst="rect">
            <a:avLst/>
          </a:prstGeom>
          <a:solidFill>
            <a:srgbClr val="DC2626">
              <a:alpha val="12000"/>
            </a:srgbClr>
          </a:solidFill>
          <a:ln w="762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95744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해결 버튼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95744" y="3291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원클릭 자동 수정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21024"/>
            <a:ext cx="2029968" cy="566928"/>
          </a:xfrm>
          <a:prstGeom prst="rect">
            <a:avLst/>
          </a:prstGeom>
          <a:solidFill>
            <a:srgbClr val="DC2626">
              <a:alpha val="12000"/>
            </a:srgbClr>
          </a:solidFill>
          <a:ln w="762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6928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리포트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950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9항목 100점 점수화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33472" y="3621024"/>
            <a:ext cx="2029968" cy="566928"/>
          </a:xfrm>
          <a:prstGeom prst="rect">
            <a:avLst/>
          </a:prstGeom>
          <a:solidFill>
            <a:srgbClr val="D97706">
              <a:alpha val="12000"/>
            </a:srgbClr>
          </a:solidFill>
          <a:ln w="762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432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외곽선 자동 추가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3950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자동 처리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9744" y="4279392"/>
            <a:ext cx="2029968" cy="566928"/>
          </a:xfrm>
          <a:prstGeom prst="rect">
            <a:avLst/>
          </a:prstGeom>
          <a:solidFill>
            <a:srgbClr val="7C3AED">
              <a:alpha val="12000"/>
            </a:srgbClr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19472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자동 정리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ogq_01.png 형식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86016" y="4279392"/>
            <a:ext cx="2029968" cy="566928"/>
          </a:xfrm>
          <a:prstGeom prst="rect">
            <a:avLst/>
          </a:prstGeom>
          <a:solidFill>
            <a:srgbClr val="16A34A">
              <a:alpha val="12000"/>
            </a:srgbClr>
          </a:solidFill>
          <a:ln w="762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095744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OGQ 제출 가이드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95744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 + 링크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4919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Spring Boot  ·  Python FastAPI  ·  MySQL  ·  AWS S3 / EC2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230368"/>
            <a:ext cx="9144000" cy="461772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14400" y="5230368"/>
            <a:ext cx="731520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기획서 v5.0 최종  ·  케토끼 스티커팩 메이커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82828"/>
                </a:solidFill>
                <a:latin typeface="Malgun Gothic"/>
              </a:rPr>
              <a:t>05 · 업로드 방식 설계 — 기본은 개별 이미지, AI 시트 분리는 선택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49808"/>
            <a:ext cx="7406640" cy="411480"/>
          </a:xfrm>
          <a:prstGeom prst="roundRect">
            <a:avLst/>
          </a:prstGeom>
          <a:solidFill>
            <a:srgbClr val="F7FA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75275"/>
                </a:solidFill>
                <a:latin typeface="Malgun Gothic"/>
              </a:rPr>
              <a:t>이모티콘 제작의 기본 흐름은 개별 파일 업로드이며, AI가 만든 한 장짜리 시트는 별도 보조 기능으로 분리합니다.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49039" cy="2514600"/>
          </a:xfrm>
          <a:prstGeom prst="roundRect">
            <a:avLst/>
          </a:prstGeom>
          <a:solidFill>
            <a:srgbClr val="F3FC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1581912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73737"/>
                </a:solidFill>
                <a:latin typeface="Malgun Gothic"/>
              </a:rPr>
              <a:t>✅ 기본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3291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D2D2D"/>
                </a:solidFill>
                <a:latin typeface="Malgun Gothic"/>
              </a:rPr>
              <a:t>기본 방식 · 개별 이미지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918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14141"/>
                </a:solidFill>
                <a:latin typeface="Malgun Gothic"/>
              </a:rPr>
              <a:t>사용자가 이미 분리된 이미지를 한 장씩 업로드합니다.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329183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05050"/>
                </a:solidFill>
                <a:latin typeface="Malgun Gothic"/>
              </a:rPr>
              <a:t>OGQ 24장 · 카카오톡 멈춤형 32장 · LINE 선택 개수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749039" cy="2514600"/>
          </a:xfrm>
          <a:prstGeom prst="roundRect">
            <a:avLst/>
          </a:prstGeom>
          <a:solidFill>
            <a:srgbClr val="FFF8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1" y="1581912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73737"/>
                </a:solidFill>
                <a:latin typeface="Malgun Gothic"/>
              </a:rPr>
              <a:t>🧩 선택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84248"/>
            <a:ext cx="3291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D2D2D"/>
                </a:solidFill>
                <a:latin typeface="Malgun Gothic"/>
              </a:rPr>
              <a:t>추가 기능 · AI 시트 자동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32918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14141"/>
                </a:solidFill>
                <a:latin typeface="Malgun Gothic"/>
              </a:rPr>
              <a:t>AI가 만든 한 장짜리 그리드 이미지를 업로드하면 컷 단위로 분리합니다.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46120"/>
            <a:ext cx="329183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05050"/>
                </a:solidFill>
                <a:latin typeface="Malgun Gothic"/>
              </a:rPr>
              <a:t>예: 6×4 시트 1장 → 개별 PNG 24장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60520"/>
            <a:ext cx="7680960" cy="594360"/>
          </a:xfrm>
          <a:prstGeom prst="roundRect">
            <a:avLst/>
          </a:prstGeom>
          <a:solidFill>
            <a:srgbClr val="FAF5FC"/>
          </a:solidFill>
          <a:ln>
            <a:solidFill>
              <a:srgbClr val="E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5C4368"/>
                </a:solidFill>
                <a:latin typeface="Malgun Gothic"/>
              </a:rPr>
              <a:t>최종 흐름: 업로드 방식 선택 → 개별 업로드 또는 시트 분리 → 플랫폼 규격 자동 변환 → 최종 제출 파일 검수 → 오류 수정 → ZIP 다운로드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케토끼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케토끼 스티커팩 메이커 개발 기획서 v5.0</dc:title>
  <dc:subject>이모티콘 플랫폼 자동 변환 서비스 개발 기획</dc:subject>
  <dc:creator>케토끼 스티커팩 메이커</dc:creator>
  <cp:lastModifiedBy>케토끼 스티커팩 메이커</cp:lastModifiedBy>
  <cp:revision>1</cp:revision>
  <dcterms:created xsi:type="dcterms:W3CDTF">2026-05-14T00:26:44Z</dcterms:created>
  <dcterms:modified xsi:type="dcterms:W3CDTF">2026-05-14T00:26:44Z</dcterms:modified>
</cp:coreProperties>
</file>